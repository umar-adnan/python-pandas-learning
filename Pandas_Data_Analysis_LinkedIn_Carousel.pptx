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85800"/>
            <a:ext cx="685800" cy="5486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08760" y="685800"/>
            <a:ext cx="228600" cy="54864"/>
          </a:xfrm>
          <a:prstGeom prst="rect">
            <a:avLst/>
          </a:prstGeom>
          <a:solidFill>
            <a:srgbClr val="781219"/>
          </a:solidFill>
          <a:ln>
            <a:solidFill>
              <a:srgbClr val="78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0">
                <a:solidFill>
                  <a:srgbClr val="F5F5F5"/>
                </a:solidFill>
                <a:latin typeface="Aptos"/>
              </a:rPr>
              <a:t>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3840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E6232D"/>
                </a:solidFill>
                <a:latin typeface="Aptos"/>
              </a:rPr>
              <a:t>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68580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Aptos"/>
              </a:rPr>
              <a:t>From Raw Data
to Meaningful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33892"/>
            <a:ext cx="5924257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A5A5AC"/>
                </a:solidFill>
                <a:latin typeface="Aptos"/>
              </a:rPr>
              <a:t>A hands-on journey through data cleaning, transformation, analysis &amp; manipulation.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40396" y="1373358"/>
            <a:ext cx="3611880" cy="420624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9164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DATAFRAME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331720"/>
            <a:ext cx="658368" cy="384048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65836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Aptos"/>
              </a:rPr>
              <a:t>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2331720"/>
            <a:ext cx="658368" cy="384048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87968" y="2331720"/>
            <a:ext cx="65836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Aptos"/>
              </a:rPr>
              <a:t>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37776" y="2331720"/>
            <a:ext cx="658368" cy="384048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37776" y="2331720"/>
            <a:ext cx="65836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Aptos"/>
              </a:rPr>
              <a:t>SALARY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87584" y="2331720"/>
            <a:ext cx="658368" cy="384048"/>
          </a:xfrm>
          <a:prstGeom prst="roundRect">
            <a:avLst/>
          </a:prstGeom>
          <a:solidFill>
            <a:srgbClr val="781219"/>
          </a:solidFill>
          <a:ln>
            <a:solidFill>
              <a:srgbClr val="78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87584" y="2331720"/>
            <a:ext cx="65836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5F5F5"/>
                </a:solidFill>
                <a:latin typeface="Aptos"/>
              </a:rPr>
              <a:t>DEPT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81635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81635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101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281635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81635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281635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37776" y="281635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50K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87584" y="281635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87584" y="281635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1927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331927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102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8" y="331927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87968" y="331927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34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7776" y="331927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37776" y="331927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72K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87584" y="331927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87584" y="331927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HR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22191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3822191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103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7968" y="3822191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87968" y="3822191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E6232D"/>
                </a:solidFill>
                <a:latin typeface="Aptos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37776" y="3822191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37776" y="3822191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61K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87584" y="3822191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87584" y="3822191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32511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60" y="432511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104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87968" y="432511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87968" y="432511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42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37776" y="432511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37776" y="432511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110K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87584" y="4325112"/>
            <a:ext cx="658368" cy="402336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387584" y="4325112"/>
            <a:ext cx="658368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F5F5"/>
                </a:solidFill>
                <a:latin typeface="Aptos"/>
              </a:rPr>
              <a:t>FIN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0749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5A5AC"/>
                </a:solidFill>
                <a:latin typeface="Aptos"/>
              </a:rPr>
              <a:t>CLEAN  →  TRANSFORM  →  ANALYZE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08076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"/>
              </a:rPr>
              <a:t>Python • Pandas • NumPy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47395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5A5AC"/>
                </a:solidFill>
                <a:latin typeface="Aptos"/>
              </a:rPr>
              <a:t>01  /  PANDAS DATA ANALYSIS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6510528"/>
            <a:ext cx="777240" cy="3200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2135"/>
            <a:ext cx="13276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E6232D"/>
                </a:solidFill>
                <a:latin typeface="Aptos"/>
              </a:rPr>
              <a:t>01 </a:t>
            </a:r>
            <a:r>
              <a:rPr lang="en-US" sz="1100" b="1" dirty="0">
                <a:solidFill>
                  <a:srgbClr val="E6232D"/>
                </a:solidFill>
                <a:latin typeface="Aptos"/>
              </a:rPr>
              <a:t>-</a:t>
            </a:r>
            <a:r>
              <a:rPr sz="1100" b="1" dirty="0">
                <a:solidFill>
                  <a:srgbClr val="E6232D"/>
                </a:solidFill>
                <a:latin typeface="Aptos"/>
              </a:rPr>
              <a:t>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Working with DataFrames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5A5AC"/>
                </a:solidFill>
                <a:latin typeface="Aptos"/>
              </a:rPr>
              <a:t>Loading, inspecting and exporting datasets in common formats.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3337560" cy="1874519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54864" cy="1874519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"/>
              </a:rPr>
              <a:t>DataFrames
from Python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423160"/>
            <a:ext cx="3337560" cy="1874519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2423160"/>
            <a:ext cx="54864" cy="1874519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2697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10896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"/>
              </a:rPr>
              <a:t>shape • info()
describe()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23160"/>
            <a:ext cx="3337560" cy="1874519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2423160"/>
            <a:ext cx="54864" cy="1874519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697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"/>
              </a:rPr>
              <a:t>CSV • Excel
JSON • TSV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744200" cy="100584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54864" cy="100584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873752"/>
            <a:ext cx="103327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CDCE1"/>
                </a:solidFill>
                <a:latin typeface="Cascadia Mono"/>
              </a:rPr>
              <a:t>df.info()
df.describe()
df.to_csv('clean.csv', index=False)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5A5AC"/>
                </a:solidFill>
                <a:latin typeface="Aptos"/>
              </a:rPr>
              <a:t>02  /  PANDAS DATA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0" y="6510528"/>
            <a:ext cx="777240" cy="3200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2135"/>
            <a:ext cx="1128835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E6232D"/>
                </a:solidFill>
                <a:latin typeface="Aptos"/>
              </a:rPr>
              <a:t>02 </a:t>
            </a:r>
            <a:r>
              <a:rPr lang="en-US" sz="1100" b="1" dirty="0">
                <a:solidFill>
                  <a:srgbClr val="E6232D"/>
                </a:solidFill>
                <a:latin typeface="Aptos"/>
              </a:rPr>
              <a:t>-</a:t>
            </a:r>
            <a:r>
              <a:rPr sz="1100" b="1" dirty="0">
                <a:solidFill>
                  <a:srgbClr val="E6232D"/>
                </a:solidFill>
                <a:latin typeface="Aptos"/>
              </a:rPr>
              <a:t>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Turning Messy Data into Usable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5A5AC"/>
                </a:solidFill>
                <a:latin typeface="Aptos"/>
              </a:rPr>
              <a:t>Missing values, interpolation and safer modern Pandas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074920" cy="333756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78608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063240"/>
            <a:ext cx="1737360" cy="201168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3063240"/>
            <a:ext cx="54864" cy="201168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227832"/>
            <a:ext cx="1325880" cy="1691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CDCE1"/>
                </a:solidFill>
                <a:latin typeface="Cascadia Mono"/>
              </a:rPr>
              <a:t>Age
25
34
NaN
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063240"/>
            <a:ext cx="2468880" cy="201168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3063240"/>
            <a:ext cx="54864" cy="201168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3227832"/>
            <a:ext cx="2057400" cy="1691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CDCE1"/>
                </a:solidFill>
                <a:latin typeface="Cascadia Mono"/>
              </a:rPr>
              <a:t>Missing values
• NaN detection
• ffill / bfill
• interpolation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257800" cy="333756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578608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063240"/>
            <a:ext cx="4526280" cy="141732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3063240"/>
            <a:ext cx="54864" cy="141732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227832"/>
            <a:ext cx="41148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CDCE1"/>
                </a:solidFill>
                <a:latin typeface="Cascadia Mono"/>
              </a:rPr>
              <a:t>df['Age'] = df['Age'].fillna(
    df['Age'].mean()
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0060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Cleaned • consistent • analysis-ready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5A5AC"/>
                </a:solidFill>
                <a:latin typeface="Aptos"/>
              </a:rPr>
              <a:t>Also explored: NaN / Inf / finite values, linear &amp; time-based interpolation, and Copy-on-Write-safe reassignment.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5A5AC"/>
                </a:solidFill>
                <a:latin typeface="Aptos"/>
              </a:rPr>
              <a:t>03  /  PANDAS DATA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0" y="6510528"/>
            <a:ext cx="777240" cy="3200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2135"/>
            <a:ext cx="166904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E6232D"/>
                </a:solidFill>
                <a:latin typeface="Aptos"/>
              </a:rPr>
              <a:t>03 </a:t>
            </a:r>
            <a:r>
              <a:rPr lang="en-US" sz="1100" b="1" dirty="0">
                <a:solidFill>
                  <a:srgbClr val="E6232D"/>
                </a:solidFill>
                <a:latin typeface="Aptos"/>
              </a:rPr>
              <a:t>-</a:t>
            </a:r>
            <a:r>
              <a:rPr sz="1100" b="1" dirty="0">
                <a:solidFill>
                  <a:srgbClr val="E6232D"/>
                </a:solidFill>
                <a:latin typeface="Aptos"/>
              </a:rPr>
              <a:t>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Filtering, Selecting &amp; 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5A5AC"/>
                </a:solidFill>
                <a:latin typeface="Aptos"/>
              </a:rPr>
              <a:t>Using labels, conditions and string operations to shape datasets.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2926080" cy="310896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.loc[]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.iloc[]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.isin()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Boolean masks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34747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6232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331720"/>
            <a:ext cx="2926080" cy="310896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265176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089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.replace()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.loc[]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np.where()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Aptos"/>
              </a:defRPr>
            </a:pPr>
            <a:r>
              <a:t>• .str.*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4747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6232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331720"/>
            <a:ext cx="3154680" cy="310896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265176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154680"/>
            <a:ext cx="2514600" cy="178308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3154680"/>
            <a:ext cx="54864" cy="178308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3319272"/>
            <a:ext cx="210312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DCDCE1"/>
                </a:solidFill>
                <a:latin typeface="Cascadia Mono"/>
              </a:rPr>
              <a:t>df[df['Salary'] &gt; 60000]
.str.strip()
.str.title()
.str.contains()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5A5AC"/>
                </a:solidFill>
                <a:latin typeface="Aptos"/>
              </a:rPr>
              <a:t>04  /  PANDAS DATA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0" y="6510528"/>
            <a:ext cx="777240" cy="3200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2135"/>
            <a:ext cx="108715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E6232D"/>
                </a:solidFill>
                <a:latin typeface="Aptos"/>
              </a:rPr>
              <a:t>04 </a:t>
            </a:r>
            <a:r>
              <a:rPr lang="en-US" sz="1100" b="1" dirty="0">
                <a:solidFill>
                  <a:srgbClr val="E6232D"/>
                </a:solidFill>
                <a:latin typeface="Aptos"/>
              </a:rPr>
              <a:t>-</a:t>
            </a:r>
            <a:r>
              <a:rPr sz="1100" b="1" dirty="0">
                <a:solidFill>
                  <a:srgbClr val="E6232D"/>
                </a:solidFill>
                <a:latin typeface="Aptos"/>
              </a:rPr>
              <a:t>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From Rows to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5A5AC"/>
                </a:solidFill>
                <a:latin typeface="Aptos"/>
              </a:rPr>
              <a:t>Aggregation, grouping and relational operations for deeper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6400800" cy="347472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6232D"/>
                </a:solidFill>
                <a:latin typeface="Aptos"/>
              </a:rPr>
              <a:t>SPLIT  →  APPLY  →  COMBINE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5A5AC"/>
                </a:solidFill>
                <a:latin typeface="Aptos"/>
              </a:rPr>
              <a:t>Department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971800"/>
            <a:ext cx="1005840" cy="685800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2971800"/>
            <a:ext cx="1005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971800"/>
            <a:ext cx="1005840" cy="685800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2971800"/>
            <a:ext cx="1005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971800"/>
            <a:ext cx="1005840" cy="685800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2971800"/>
            <a:ext cx="1005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862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6232D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mean • median • std • min • max • count •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709160"/>
            <a:ext cx="5715000" cy="86868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4709160"/>
            <a:ext cx="54864" cy="86868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873752"/>
            <a:ext cx="4389343" cy="8925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DCDCE1"/>
                </a:solidFill>
                <a:latin typeface="Cascadia Mono"/>
              </a:rPr>
              <a:t>df.groupby('Department').agg(
    Avg_Salary=('Salary', 'mean'),
    Employee_Count=('</a:t>
            </a:r>
            <a:r>
              <a:rPr sz="1300" b="0" dirty="0" err="1">
                <a:solidFill>
                  <a:srgbClr val="DCDCE1"/>
                </a:solidFill>
                <a:latin typeface="Cascadia Mono"/>
              </a:rPr>
              <a:t>Employee_ID</a:t>
            </a:r>
            <a:r>
              <a:rPr sz="1300" b="0" dirty="0">
                <a:solidFill>
                  <a:srgbClr val="DCDCE1"/>
                </a:solidFill>
                <a:latin typeface="Cascadia Mono"/>
              </a:rPr>
              <a:t>', 'count')
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40280"/>
            <a:ext cx="3977639" cy="347472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256032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COMBINE DATASETS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154680"/>
            <a:ext cx="3337560" cy="502920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3154680"/>
            <a:ext cx="2743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pd.merge()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840480"/>
            <a:ext cx="3337560" cy="502920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3840480"/>
            <a:ext cx="2743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df.join()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526280"/>
            <a:ext cx="3337560" cy="502920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4526280"/>
            <a:ext cx="2743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pd.concat()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285232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5A5AC"/>
                </a:solidFill>
                <a:latin typeface="Aptos"/>
              </a:rPr>
              <a:t>Inner • Left • Right • Outer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5A5AC"/>
                </a:solidFill>
                <a:latin typeface="Aptos"/>
              </a:rPr>
              <a:t>05  /  PANDAS DATA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0" y="6510528"/>
            <a:ext cx="777240" cy="3200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2135"/>
            <a:ext cx="1128835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E6232D"/>
                </a:solidFill>
                <a:latin typeface="Aptos"/>
              </a:rPr>
              <a:t>05 </a:t>
            </a:r>
            <a:r>
              <a:rPr lang="en-US" sz="1100" b="1" dirty="0">
                <a:solidFill>
                  <a:srgbClr val="E6232D"/>
                </a:solidFill>
                <a:latin typeface="Aptos"/>
              </a:rPr>
              <a:t>-</a:t>
            </a:r>
            <a:r>
              <a:rPr sz="1100" b="1" dirty="0">
                <a:solidFill>
                  <a:srgbClr val="E6232D"/>
                </a:solidFill>
                <a:latin typeface="Aptos"/>
              </a:rPr>
              <a:t>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The Data Journey Continues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A5A5AC"/>
                </a:solidFill>
                <a:latin typeface="Aptos"/>
              </a:rPr>
              <a:t>Building a stronger foundation for real-world AI/ML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48840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Python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70048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91256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91256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12464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12464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33672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3367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A5A5AC"/>
                </a:solidFill>
                <a:latin typeface="Aptos"/>
              </a:rPr>
              <a:t>Matplotlib &amp;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79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54879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A5A5AC"/>
                </a:solidFill>
                <a:latin typeface="Aptos"/>
              </a:rPr>
              <a:t>Exploratory Data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6232D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6088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A5A5AC"/>
                </a:solidFill>
                <a:latin typeface="Aptos"/>
              </a:rPr>
              <a:t>Machine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48840"/>
            <a:ext cx="4846320" cy="3566160"/>
          </a:xfrm>
          <a:prstGeom prst="roundRect">
            <a:avLst/>
          </a:prstGeom>
          <a:solidFill>
            <a:srgbClr val="121216"/>
          </a:solidFill>
          <a:ln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514600"/>
            <a:ext cx="3840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232D"/>
                </a:solidFill>
                <a:latin typeface="Aptos"/>
              </a:rPr>
              <a:t>WHAT THIS PHASE TAUGHT 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063240"/>
            <a:ext cx="3931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5F5F5"/>
                </a:solidFill>
                <a:latin typeface="Aptos"/>
              </a:rPr>
              <a:t>Data analysis starts
before the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3840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A5A5AC"/>
                </a:solidFill>
                <a:latin typeface="Aptos"/>
              </a:rPr>
              <a:t>Clean → Transform → Analyze → Visualize → 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16636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"/>
              </a:rPr>
              <a:t>🐼 Pandas  |  🐍 Python  |  📊 Data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10744200" cy="45720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6400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Learning by building — one dataset at a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3657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A5A5AC"/>
                </a:solidFill>
                <a:latin typeface="Aptos"/>
              </a:rPr>
              <a:t>06  /  PANDAS DATA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0" y="6510528"/>
            <a:ext cx="777240" cy="32004"/>
          </a:xfrm>
          <a:prstGeom prst="rect">
            <a:avLst/>
          </a:prstGeom>
          <a:solidFill>
            <a:srgbClr val="E6232D"/>
          </a:solidFill>
          <a:ln>
            <a:solidFill>
              <a:srgbClr val="E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</Words>
  <Application>Microsoft Office PowerPoint</Application>
  <PresentationFormat>Widescreen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GAMING DESKTOP</cp:lastModifiedBy>
  <cp:revision>2</cp:revision>
  <dcterms:created xsi:type="dcterms:W3CDTF">2013-01-27T09:14:16Z</dcterms:created>
  <dcterms:modified xsi:type="dcterms:W3CDTF">2026-09-11T13:11:07Z</dcterms:modified>
  <cp:category/>
</cp:coreProperties>
</file>